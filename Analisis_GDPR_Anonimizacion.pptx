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842AD-599F-4768-B350-A46E0E152318}" type="datetimeFigureOut">
              <a:rPr lang="es-ES" smtClean="0"/>
              <a:t>29/04/2026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D44AA-D5B9-44E3-A8DD-1BB7CB11DE9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17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vdevictor123.github.io/portfolio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846320" cy="66934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846320" y="164592"/>
            <a:ext cx="109728" cy="66934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GDPR Data
Anonymization
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977639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E-commerce Customer Data Pipeline
Privacy-First Cloud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886200"/>
            <a:ext cx="32004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2120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Victor Toret Marin
Data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5720209"/>
            <a:ext cx="429768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chemeClr val="bg1">
                    <a:lumMod val="75000"/>
                  </a:schemeClr>
                </a:solidFill>
              </a:rPr>
              <a:t>linkedin.com/in/victor-toret-marin-458674321
github.com/vdevictor123</a:t>
            </a:r>
            <a:endParaRPr lang="es-ES" sz="850" b="0" i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s-ES" sz="850" b="1" u="sng">
                <a:solidFill>
                  <a:schemeClr val="bg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https://vdevictor123.github.io/portfolio/</a:t>
            </a:r>
            <a:endParaRPr lang="es-ES" sz="850">
              <a:solidFill>
                <a:schemeClr val="bg1">
                  <a:lumMod val="75000"/>
                </a:schemeClr>
              </a:solidFill>
            </a:endParaRPr>
          </a:p>
          <a:p>
            <a:pPr algn="l"/>
            <a:endParaRPr lang="es-ES" sz="850" b="0" i="0">
              <a:solidFill>
                <a:srgbClr val="BDD7EE"/>
              </a:solidFill>
            </a:endParaRPr>
          </a:p>
          <a:p>
            <a:pPr algn="l"/>
            <a:endParaRPr sz="850" b="0" i="0">
              <a:solidFill>
                <a:srgbClr val="BDD7E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630021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D7EE"/>
                </a:solidFill>
              </a:rPr>
              <a:t>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9144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Project at a Glance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554480"/>
            <a:ext cx="210312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169163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~5,000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4688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3864"/>
                </a:solidFill>
              </a:rPr>
              <a:t>Customer Records
Processed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554480"/>
            <a:ext cx="210312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169163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4688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3864"/>
                </a:solidFill>
              </a:rPr>
              <a:t>PII Fields
Anonymized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0" y="1554480"/>
            <a:ext cx="210312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60" y="169163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4688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3864"/>
                </a:solidFill>
              </a:rPr>
              <a:t>Anonymization
Techniques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3840480"/>
            <a:ext cx="210312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2080" y="39776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269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7548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3864"/>
                </a:solidFill>
              </a:rPr>
              <a:t>Free-text Notes
Processed by Local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3840480"/>
            <a:ext cx="210312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0" y="39776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7548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3864"/>
                </a:solidFill>
              </a:rPr>
              <a:t>European
Countries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3840480"/>
            <a:ext cx="210312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66960" y="39776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47548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3864"/>
                </a:solidFill>
              </a:rPr>
              <a:t>GDPR
Compliance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65836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</a:rPr>
              <a:t>NovaShop · Privacy by Design · GDPR Article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88952" cy="8229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365760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02920" cy="502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502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Scale &amp;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74519"/>
            <a:ext cx="28346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</a:rPr>
              <a:t>~5,000 synthetic e-commerce records from 6 EU countries were processed through a full GDPR-compliant anonymization pipeline — from raw PII to cloud-ready, anonymized datasets.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1188720"/>
            <a:ext cx="365760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33672" y="1188720"/>
            <a:ext cx="502920" cy="502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33672" y="1188720"/>
            <a:ext cx="502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128016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Techniques Applied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28032" y="1874519"/>
            <a:ext cx="28346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28032" y="196596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</a:rPr>
              <a:t>11 anonymization techniques were combined: SHA-256 hashing, email &amp; phone masking, date generalization, postal truncation, IP truncation, noise injection, field removal, and local AI (Ollama) for free-text notes.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7304" y="1188720"/>
            <a:ext cx="365760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47304" y="1188720"/>
            <a:ext cx="502920" cy="502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47304" y="1188720"/>
            <a:ext cx="502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128016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Value Preserved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41664" y="1874519"/>
            <a:ext cx="28346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41664" y="196596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</a:rPr>
              <a:t>Despite full anonymization, 100% of analytical value is retained: country, age range, product categories, customer segments, and behavioral patterns remain available for cloud analytics — with zero PII exposure.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0" y="6583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95959"/>
                </a:solidFill>
              </a:rPr>
              <a:t>Victor Toret Marin  ·  April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88952" cy="8229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4295" y="17165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</a:rPr>
              <a:t>Anonymization Findings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13232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0972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Before →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554480"/>
            <a:ext cx="4297680" cy="40233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5727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5727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15727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956816"/>
            <a:ext cx="4297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19751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</a:rPr>
              <a:t>customer_id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97510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</a:rPr>
              <a:t>CUST-000764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19751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8648"/>
                </a:solidFill>
              </a:rPr>
              <a:t>919ed75…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359152"/>
            <a:ext cx="429768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49787" y="23545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</a:rPr>
              <a:t>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</a:rPr>
              <a:t>user@email.com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8648"/>
                </a:solidFill>
              </a:rPr>
              <a:t>us***@email.com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761488"/>
            <a:ext cx="4297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27797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</a:rPr>
              <a:t>phone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7797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</a:rPr>
              <a:t>0174-164776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277977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8648"/>
                </a:solidFill>
              </a:rPr>
              <a:t>***** 4776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3163824"/>
            <a:ext cx="429768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35240" y="31821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</a:rPr>
              <a:t>birth_date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1821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</a:rPr>
              <a:t>1963-02-13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31821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8648"/>
                </a:solidFill>
              </a:rPr>
              <a:t>60-69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566160"/>
            <a:ext cx="4297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35240" y="35844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</a:rPr>
              <a:t>postal_code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5844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</a:rPr>
              <a:t>N27 7NYE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8440" y="35844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8648"/>
                </a:solidFill>
              </a:rPr>
              <a:t>N2******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3968496"/>
            <a:ext cx="429768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35240" y="398678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</a:rPr>
              <a:t>ip_address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986783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</a:rPr>
              <a:t>161.198.44.35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3986783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8648"/>
                </a:solidFill>
              </a:rPr>
              <a:t>161.198.0.0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4370832"/>
            <a:ext cx="4297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3524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</a:rPr>
              <a:t>order_value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389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</a:rPr>
              <a:t>44.48 €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4389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8648"/>
                </a:solidFill>
              </a:rPr>
              <a:t>43.40 € ±noise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4773168"/>
            <a:ext cx="429768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35240" y="479145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</a:rPr>
              <a:t>full_name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791455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</a:rPr>
              <a:t>Lotte Blaak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78440" y="4791455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0392B"/>
                </a:solidFill>
              </a:rPr>
              <a:t>⛔ Removed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5175504"/>
            <a:ext cx="4297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35240" y="51937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</a:rPr>
              <a:t>street_address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51937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</a:rPr>
              <a:t>Briandreef 461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78440" y="51937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0392B"/>
                </a:solidFill>
              </a:rPr>
              <a:t>⛔ Removed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75" y="612648"/>
            <a:ext cx="12188952" cy="4297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4295" y="59165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8 PII fields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81631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</a:rPr>
              <a:t>fully anonymized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41617" y="59113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 fields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41617" y="777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</a:rPr>
              <a:t>permanently removed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59113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269 notes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78430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</a:rPr>
              <a:t>processed by local 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56863" y="61067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6863" y="802593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</a:rPr>
              <a:t>analytical value retained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591" y="4455206"/>
            <a:ext cx="4541340" cy="223113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506393" y="5907024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</a:rPr>
              <a:t>Free-text notes (269 records) processed with Ollama llama3.2:3b running locally —
no customer data ever left the premises during AI processing.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058400" y="6583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95959"/>
                </a:solidFill>
              </a:rPr>
              <a:t>Victor Toret Marin  ·  April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88952" cy="8229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</a:rPr>
              <a:t>Anonymization Strategy Applied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625" y="12070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11 Techniques · 3 Categories · 1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68580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536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536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536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536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74519"/>
            <a:ext cx="68580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90195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90195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SHA-256 Hashing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90195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customer_id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90195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Irreversible pseudonymization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106" y="189280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2E75B6"/>
                </a:solidFill>
              </a:rPr>
              <a:t>Transformed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276856"/>
            <a:ext cx="6858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230428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✉️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30428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Email Masking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30428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30428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Partial character replacement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453" y="229514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2E75B6"/>
                </a:solidFill>
              </a:rPr>
              <a:t>Transformed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679191"/>
            <a:ext cx="68580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270662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70662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Phone Masking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270662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phone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270662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Show last 4 digits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70662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2E75B6"/>
                </a:solidFill>
              </a:rPr>
              <a:t>Transformed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081528"/>
            <a:ext cx="6858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3108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108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Date Generalization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3108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birth_date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108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Exact date → 10-year age range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07612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2E75B6"/>
                </a:solidFill>
              </a:rPr>
              <a:t>Transformed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483863"/>
            <a:ext cx="68580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35112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35112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Postal Generalization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35112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postal_code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351129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Full code → first 2 chars + ******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52043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2E75B6"/>
                </a:solidFill>
              </a:rPr>
              <a:t>Transformed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886200"/>
            <a:ext cx="6858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" y="39136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39136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IP Truncation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39136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ip_address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39136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Last 2 octets zeroed out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9136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2E75B6"/>
                </a:solidFill>
              </a:rPr>
              <a:t>Transformed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288536"/>
            <a:ext cx="68580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0040" y="43159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43159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Noise Injection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43159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order_value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43159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Random ±offset added to EUR value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30682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2E75B6"/>
                </a:solidFill>
              </a:rPr>
              <a:t>Transformed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690872"/>
            <a:ext cx="6858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0040" y="47183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🗑️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47183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Field Removal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51760" y="47183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full_name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47183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Deleted — no analytical value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3825" y="47183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C0392B"/>
                </a:solidFill>
              </a:rPr>
              <a:t>Removed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093208"/>
            <a:ext cx="68580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20040" y="5120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🗑️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5120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Field Removal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51760" y="5120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street_address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5120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Deleted — no analytical value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3825" y="5120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C0392B"/>
                </a:solidFill>
              </a:rPr>
              <a:t>Removed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5495544"/>
            <a:ext cx="6858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20040" y="55229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🗑️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" y="55229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Field Removal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51760" y="55229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card_last4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0" y="55229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Deleted — no analytical value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3825" y="551341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C0392B"/>
                </a:solidFill>
              </a:rPr>
              <a:t>Removed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5897880"/>
            <a:ext cx="68580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20040" y="5925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🤖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" y="5925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LLM Anonymization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51760" y="5925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customer_notes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0" y="5925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95959"/>
                </a:solidFill>
              </a:rPr>
              <a:t>Ollama llama3.2:3b (local) → PII → [REDACTED]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75120" y="5925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78648"/>
                </a:solidFill>
              </a:rPr>
              <a:t>AI</a:t>
            </a: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785" y="1097280"/>
            <a:ext cx="4572000" cy="384048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320040" y="6217920"/>
            <a:ext cx="11521440" cy="2926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57200" y="623620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Pipeline order: Data Generation → MySQL Import → 8 SQL Anonymization Steps → k-Anonymity Validation → Analytical Views → LLM Text Anonymization → Cloud Export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058400" y="6583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95959"/>
                </a:solidFill>
              </a:rPr>
              <a:t>Victor Toret Marin  ·  April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88952" cy="8229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</a:rPr>
              <a:t>Conclusions &amp;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577840" cy="2331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02920" cy="2331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59" y="17830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95959"/>
                </a:solidFill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5272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Privacy by Design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64792"/>
            <a:ext cx="466344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2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By applying 11 anonymization techniques at source, the NovaShop pipeline proves that GDPR compliance and cloud analytics are not mutually exclusive — you can have both without compromise.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5577840" cy="2331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502920" cy="2331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95959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25272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Local AI Is the Right Choice for Free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764792"/>
            <a:ext cx="466344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1856232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Processing 269 customer notes with a local LLM (Ollama) eliminated cloud PII exposure entirely. No sensitive data left the local environment — this approach should be standard for unstructured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03320"/>
            <a:ext cx="5577840" cy="2331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3703320"/>
            <a:ext cx="502920" cy="2331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59" y="43434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95959"/>
                </a:solidFill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k-Anonymity Validation Closes the Loop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325112"/>
            <a:ext cx="466344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416552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The pipeline validates k-anonymity after each transformation, ensuring no combination of quasi-identifiers can re-identify an individual. This is the difference between 'anonymous-looking' and 'legally anonymous'.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703320"/>
            <a:ext cx="5577840" cy="2331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3703320"/>
            <a:ext cx="502920" cy="2331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95959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8130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Analytical Value Is Fully Preserved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4325112"/>
            <a:ext cx="466344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0" y="4416552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Country, age range, product categories, device type, and customer segments all survive anonymization intact — enabling full BI and ML workloads on cloud platforms with zero compliance risk.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09360"/>
            <a:ext cx="12188952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6318504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Next steps: Extend to real datasets · Add differential privacy · Schedule automated re-validation · Publish pipeline as open-source template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0" y="6583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95959"/>
                </a:solidFill>
              </a:rPr>
              <a:t>Victor Toret Marin  ·  April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88952" cy="8229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</a:rPr>
              <a:t>GDPR &amp; Security Benefits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85" y="2121407"/>
            <a:ext cx="57607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GDPR Articles Addressed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08760"/>
            <a:ext cx="56692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77724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581912"/>
            <a:ext cx="777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Art.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156362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Data Minimisation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187451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</a:rPr>
              <a:t>Only data necessary for analytics is retained.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404872"/>
            <a:ext cx="56692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2404872"/>
            <a:ext cx="77724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2478024"/>
            <a:ext cx="777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Art. 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245973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Right to Erasure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27706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</a:rPr>
              <a:t>PII fields removed; individuals cannot be identified.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300984"/>
            <a:ext cx="56692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300984"/>
            <a:ext cx="77724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3374136"/>
            <a:ext cx="777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Art. 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35584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Privacy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36667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</a:rPr>
              <a:t>Anonymization applied at the source, not as an afterthought.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197096"/>
            <a:ext cx="56692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4197096"/>
            <a:ext cx="77724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4270248"/>
            <a:ext cx="777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Art. 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4251959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Security of 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56285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</a:rPr>
              <a:t>SHA-256, masking, and local AI prevent data exposure.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093208"/>
            <a:ext cx="56692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5093208"/>
            <a:ext cx="77724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5166360"/>
            <a:ext cx="777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Art. 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514807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Scientific Research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54589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</a:rPr>
              <a:t>Anonymized data can be freely used for analytics &amp; ML.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961887"/>
            <a:ext cx="12188952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6167627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"Anonymize locally. </a:t>
            </a:r>
            <a:r>
              <a:rPr sz="1700" b="1" i="0" err="1">
                <a:solidFill>
                  <a:srgbClr val="FFFFFF"/>
                </a:solidFill>
              </a:rPr>
              <a:t>Analyse</a:t>
            </a:r>
            <a:r>
              <a:rPr sz="1700" b="1" i="0">
                <a:solidFill>
                  <a:srgbClr val="FFFFFF"/>
                </a:solidFill>
              </a:rPr>
              <a:t> globally."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0" y="6583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95959"/>
                </a:solidFill>
              </a:rPr>
              <a:t>Victor Toret Marin  ·  April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52E00-2300-4158-8F16-C5F34C84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7CC329-BEEF-F7AF-4052-A92A952B2FA0}"/>
              </a:ext>
            </a:extLst>
          </p:cNvPr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DF70D1-E77A-6F25-81CE-75DF05E39B98}"/>
              </a:ext>
            </a:extLst>
          </p:cNvPr>
          <p:cNvSpPr/>
          <p:nvPr/>
        </p:nvSpPr>
        <p:spPr>
          <a:xfrm>
            <a:off x="0" y="164592"/>
            <a:ext cx="12188952" cy="8229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D7FD5-C508-A5FD-28C3-782BECBC06F9}"/>
              </a:ext>
            </a:extLst>
          </p:cNvPr>
          <p:cNvSpPr txBox="1"/>
          <p:nvPr/>
        </p:nvSpPr>
        <p:spPr>
          <a:xfrm>
            <a:off x="284295" y="171658"/>
            <a:ext cx="1143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200" b="1" i="0">
                <a:solidFill>
                  <a:srgbClr val="1F3864"/>
                </a:solidFill>
              </a:rPr>
              <a:t>Conclusions </a:t>
            </a:r>
            <a:r>
              <a:rPr sz="2200" b="1" i="0">
                <a:solidFill>
                  <a:srgbClr val="1F3864"/>
                </a:solidFill>
              </a:rPr>
              <a:t>Anonymization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50D082-56A0-906B-0BF0-D3D1120632CB}"/>
              </a:ext>
            </a:extLst>
          </p:cNvPr>
          <p:cNvSpPr txBox="1"/>
          <p:nvPr/>
        </p:nvSpPr>
        <p:spPr>
          <a:xfrm>
            <a:off x="7589520" y="10972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Before → After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4869AE-A152-D8B6-4887-0E10D124D9BA}"/>
              </a:ext>
            </a:extLst>
          </p:cNvPr>
          <p:cNvSpPr/>
          <p:nvPr/>
        </p:nvSpPr>
        <p:spPr>
          <a:xfrm>
            <a:off x="7589520" y="1554480"/>
            <a:ext cx="4297680" cy="40233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75638-CF89-D942-8188-74B2B58B17B9}"/>
              </a:ext>
            </a:extLst>
          </p:cNvPr>
          <p:cNvSpPr txBox="1"/>
          <p:nvPr/>
        </p:nvSpPr>
        <p:spPr>
          <a:xfrm>
            <a:off x="7635240" y="15727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A3D008-4E77-6452-ECB3-D18F9D1B2FEC}"/>
              </a:ext>
            </a:extLst>
          </p:cNvPr>
          <p:cNvSpPr txBox="1"/>
          <p:nvPr/>
        </p:nvSpPr>
        <p:spPr>
          <a:xfrm>
            <a:off x="9052560" y="15727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1C982-5B05-EBF7-118B-4920489E3425}"/>
              </a:ext>
            </a:extLst>
          </p:cNvPr>
          <p:cNvSpPr txBox="1"/>
          <p:nvPr/>
        </p:nvSpPr>
        <p:spPr>
          <a:xfrm>
            <a:off x="10378440" y="15727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6C0CE8-673B-18F6-B6EA-C9AD1AED0111}"/>
              </a:ext>
            </a:extLst>
          </p:cNvPr>
          <p:cNvSpPr/>
          <p:nvPr/>
        </p:nvSpPr>
        <p:spPr>
          <a:xfrm>
            <a:off x="7589520" y="1956816"/>
            <a:ext cx="4297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023F3D-8CC9-24CB-0D15-9D16A8A58C78}"/>
              </a:ext>
            </a:extLst>
          </p:cNvPr>
          <p:cNvSpPr txBox="1"/>
          <p:nvPr/>
        </p:nvSpPr>
        <p:spPr>
          <a:xfrm>
            <a:off x="7604067" y="2009427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err="1">
                <a:solidFill>
                  <a:srgbClr val="595959"/>
                </a:solidFill>
              </a:rPr>
              <a:t>customer_id</a:t>
            </a:r>
            <a:endParaRPr sz="1200" b="0" i="0">
              <a:solidFill>
                <a:srgbClr val="595959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1A6DE6-15FC-1869-F244-BFD9B2293FE3}"/>
              </a:ext>
            </a:extLst>
          </p:cNvPr>
          <p:cNvSpPr txBox="1"/>
          <p:nvPr/>
        </p:nvSpPr>
        <p:spPr>
          <a:xfrm>
            <a:off x="9052560" y="1975104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CUST-000764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6A0859-AA8D-3B5A-0A51-E0F7BE16543A}"/>
              </a:ext>
            </a:extLst>
          </p:cNvPr>
          <p:cNvSpPr txBox="1"/>
          <p:nvPr/>
        </p:nvSpPr>
        <p:spPr>
          <a:xfrm>
            <a:off x="10378440" y="1975104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48"/>
                </a:solidFill>
              </a:rPr>
              <a:t>919ed75</a:t>
            </a:r>
            <a:r>
              <a:rPr sz="750" b="0" i="0">
                <a:solidFill>
                  <a:srgbClr val="378648"/>
                </a:solidFill>
              </a:rPr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FD9A5D-385F-A4DD-544D-7F0046492B4A}"/>
              </a:ext>
            </a:extLst>
          </p:cNvPr>
          <p:cNvSpPr/>
          <p:nvPr/>
        </p:nvSpPr>
        <p:spPr>
          <a:xfrm>
            <a:off x="7589520" y="2359152"/>
            <a:ext cx="429768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73C204-A310-E04C-5577-CE34C6DD2EFA}"/>
              </a:ext>
            </a:extLst>
          </p:cNvPr>
          <p:cNvSpPr txBox="1"/>
          <p:nvPr/>
        </p:nvSpPr>
        <p:spPr>
          <a:xfrm>
            <a:off x="7649787" y="2354580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email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7128DB-FB62-3FF6-249A-2232B35D5AD3}"/>
              </a:ext>
            </a:extLst>
          </p:cNvPr>
          <p:cNvSpPr txBox="1"/>
          <p:nvPr/>
        </p:nvSpPr>
        <p:spPr>
          <a:xfrm>
            <a:off x="9025109" y="2377440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user@email.com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0F35DE-5148-7FAB-7AE3-5DF36449DA8F}"/>
              </a:ext>
            </a:extLst>
          </p:cNvPr>
          <p:cNvSpPr txBox="1"/>
          <p:nvPr/>
        </p:nvSpPr>
        <p:spPr>
          <a:xfrm>
            <a:off x="10378440" y="2377440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48"/>
                </a:solidFill>
              </a:rPr>
              <a:t>us***@email.com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F38BB0-B048-3173-C2A2-DA9F7E7FB3EA}"/>
              </a:ext>
            </a:extLst>
          </p:cNvPr>
          <p:cNvSpPr/>
          <p:nvPr/>
        </p:nvSpPr>
        <p:spPr>
          <a:xfrm>
            <a:off x="7589520" y="2761488"/>
            <a:ext cx="4297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C52B67-29BA-B8F6-DB14-60BC43A1A19B}"/>
              </a:ext>
            </a:extLst>
          </p:cNvPr>
          <p:cNvSpPr txBox="1"/>
          <p:nvPr/>
        </p:nvSpPr>
        <p:spPr>
          <a:xfrm>
            <a:off x="7635240" y="2779776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phone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1CF9C3-2544-2B57-203B-ECB28BAFFCC7}"/>
              </a:ext>
            </a:extLst>
          </p:cNvPr>
          <p:cNvSpPr txBox="1"/>
          <p:nvPr/>
        </p:nvSpPr>
        <p:spPr>
          <a:xfrm>
            <a:off x="9061950" y="2790998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0174-164776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FAF058-1C79-7651-0572-4397106D2E02}"/>
              </a:ext>
            </a:extLst>
          </p:cNvPr>
          <p:cNvSpPr txBox="1"/>
          <p:nvPr/>
        </p:nvSpPr>
        <p:spPr>
          <a:xfrm>
            <a:off x="10378440" y="2779776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48"/>
                </a:solidFill>
              </a:rPr>
              <a:t>***** 4776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BDDB48-79F4-916E-431E-713FA9BAAAB9}"/>
              </a:ext>
            </a:extLst>
          </p:cNvPr>
          <p:cNvSpPr/>
          <p:nvPr/>
        </p:nvSpPr>
        <p:spPr>
          <a:xfrm>
            <a:off x="7589520" y="3163824"/>
            <a:ext cx="429768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5B0743-9F54-6E06-2072-35CBCAA6844A}"/>
              </a:ext>
            </a:extLst>
          </p:cNvPr>
          <p:cNvSpPr txBox="1"/>
          <p:nvPr/>
        </p:nvSpPr>
        <p:spPr>
          <a:xfrm>
            <a:off x="7635240" y="3182112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err="1">
                <a:solidFill>
                  <a:srgbClr val="595959"/>
                </a:solidFill>
              </a:rPr>
              <a:t>birth</a:t>
            </a:r>
            <a:r>
              <a:rPr sz="800" b="0" i="0" err="1">
                <a:solidFill>
                  <a:srgbClr val="595959"/>
                </a:solidFill>
              </a:rPr>
              <a:t>_</a:t>
            </a:r>
            <a:r>
              <a:rPr sz="1200" b="0" i="0" err="1">
                <a:solidFill>
                  <a:srgbClr val="595959"/>
                </a:solidFill>
              </a:rPr>
              <a:t>date</a:t>
            </a:r>
            <a:endParaRPr sz="1200" b="0" i="0">
              <a:solidFill>
                <a:srgbClr val="595959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467305-3194-FB46-B986-7627C946150D}"/>
              </a:ext>
            </a:extLst>
          </p:cNvPr>
          <p:cNvSpPr txBox="1"/>
          <p:nvPr/>
        </p:nvSpPr>
        <p:spPr>
          <a:xfrm>
            <a:off x="9052560" y="3182112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1963-02-13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044AC8-A0F2-3758-C573-1ECD36641085}"/>
              </a:ext>
            </a:extLst>
          </p:cNvPr>
          <p:cNvSpPr txBox="1"/>
          <p:nvPr/>
        </p:nvSpPr>
        <p:spPr>
          <a:xfrm>
            <a:off x="10378440" y="3182112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48"/>
                </a:solidFill>
              </a:rPr>
              <a:t>60-69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985BF6-5EDD-EFF6-0D31-B7A40330E7EE}"/>
              </a:ext>
            </a:extLst>
          </p:cNvPr>
          <p:cNvSpPr/>
          <p:nvPr/>
        </p:nvSpPr>
        <p:spPr>
          <a:xfrm>
            <a:off x="7589520" y="3566160"/>
            <a:ext cx="4297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E43E3E-8848-BD0E-46D8-71FCA07F2294}"/>
              </a:ext>
            </a:extLst>
          </p:cNvPr>
          <p:cNvSpPr txBox="1"/>
          <p:nvPr/>
        </p:nvSpPr>
        <p:spPr>
          <a:xfrm>
            <a:off x="7635240" y="3584448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err="1">
                <a:solidFill>
                  <a:srgbClr val="595959"/>
                </a:solidFill>
              </a:rPr>
              <a:t>postal</a:t>
            </a:r>
            <a:r>
              <a:rPr sz="800" b="0" i="0" err="1">
                <a:solidFill>
                  <a:srgbClr val="595959"/>
                </a:solidFill>
              </a:rPr>
              <a:t>_</a:t>
            </a:r>
            <a:r>
              <a:rPr sz="1200" b="0" i="0" err="1">
                <a:solidFill>
                  <a:srgbClr val="595959"/>
                </a:solidFill>
              </a:rPr>
              <a:t>code</a:t>
            </a:r>
            <a:endParaRPr sz="1200" b="0" i="0">
              <a:solidFill>
                <a:srgbClr val="595959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F59885-8C4D-40FC-E017-D36A2F91B4F0}"/>
              </a:ext>
            </a:extLst>
          </p:cNvPr>
          <p:cNvSpPr txBox="1"/>
          <p:nvPr/>
        </p:nvSpPr>
        <p:spPr>
          <a:xfrm>
            <a:off x="9052560" y="3584448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N27 7NYE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9DDBDE-3334-3E20-13E7-8F768CA4D2C7}"/>
              </a:ext>
            </a:extLst>
          </p:cNvPr>
          <p:cNvSpPr txBox="1"/>
          <p:nvPr/>
        </p:nvSpPr>
        <p:spPr>
          <a:xfrm>
            <a:off x="10378440" y="3584448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48"/>
                </a:solidFill>
              </a:rPr>
              <a:t>N2******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EFD64C-6B69-35A2-61B2-287F8FFBA1DF}"/>
              </a:ext>
            </a:extLst>
          </p:cNvPr>
          <p:cNvSpPr/>
          <p:nvPr/>
        </p:nvSpPr>
        <p:spPr>
          <a:xfrm>
            <a:off x="7589520" y="3968496"/>
            <a:ext cx="429768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E80D24-56B6-2C8F-692E-B8263CAC2BAF}"/>
              </a:ext>
            </a:extLst>
          </p:cNvPr>
          <p:cNvSpPr txBox="1"/>
          <p:nvPr/>
        </p:nvSpPr>
        <p:spPr>
          <a:xfrm>
            <a:off x="7649787" y="3975562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err="1">
                <a:solidFill>
                  <a:srgbClr val="595959"/>
                </a:solidFill>
              </a:rPr>
              <a:t>ip</a:t>
            </a:r>
            <a:r>
              <a:rPr sz="800" b="0" i="0" err="1">
                <a:solidFill>
                  <a:srgbClr val="595959"/>
                </a:solidFill>
              </a:rPr>
              <a:t>_</a:t>
            </a:r>
            <a:r>
              <a:rPr sz="1200" b="0" i="0" err="1">
                <a:solidFill>
                  <a:srgbClr val="595959"/>
                </a:solidFill>
              </a:rPr>
              <a:t>address</a:t>
            </a:r>
            <a:endParaRPr sz="1200" b="0" i="0">
              <a:solidFill>
                <a:srgbClr val="595959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E59EB4-84F8-B8C9-EC84-310582F75B4E}"/>
              </a:ext>
            </a:extLst>
          </p:cNvPr>
          <p:cNvSpPr txBox="1"/>
          <p:nvPr/>
        </p:nvSpPr>
        <p:spPr>
          <a:xfrm>
            <a:off x="9052560" y="3986783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161.198.44.35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6C084F-07C0-51FD-9243-A052A87E4CD5}"/>
              </a:ext>
            </a:extLst>
          </p:cNvPr>
          <p:cNvSpPr txBox="1"/>
          <p:nvPr/>
        </p:nvSpPr>
        <p:spPr>
          <a:xfrm>
            <a:off x="10378440" y="3986783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48"/>
                </a:solidFill>
              </a:rPr>
              <a:t>161.198.0.0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C74498-2891-927F-2268-47E419C66923}"/>
              </a:ext>
            </a:extLst>
          </p:cNvPr>
          <p:cNvSpPr/>
          <p:nvPr/>
        </p:nvSpPr>
        <p:spPr>
          <a:xfrm>
            <a:off x="7589520" y="4370832"/>
            <a:ext cx="4297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AAA551-C3BD-87C8-2EB8-BE6A09AD740A}"/>
              </a:ext>
            </a:extLst>
          </p:cNvPr>
          <p:cNvSpPr txBox="1"/>
          <p:nvPr/>
        </p:nvSpPr>
        <p:spPr>
          <a:xfrm>
            <a:off x="7635240" y="4389120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err="1">
                <a:solidFill>
                  <a:srgbClr val="595959"/>
                </a:solidFill>
              </a:rPr>
              <a:t>order</a:t>
            </a:r>
            <a:r>
              <a:rPr sz="800" b="0" i="0" err="1">
                <a:solidFill>
                  <a:srgbClr val="595959"/>
                </a:solidFill>
              </a:rPr>
              <a:t>_</a:t>
            </a:r>
            <a:r>
              <a:rPr sz="1200" b="0" i="0" err="1">
                <a:solidFill>
                  <a:srgbClr val="595959"/>
                </a:solidFill>
              </a:rPr>
              <a:t>value</a:t>
            </a:r>
            <a:endParaRPr sz="1200" b="0" i="0">
              <a:solidFill>
                <a:srgbClr val="595959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32D02F-9AC3-A586-02B7-75277F49F4E6}"/>
              </a:ext>
            </a:extLst>
          </p:cNvPr>
          <p:cNvSpPr txBox="1"/>
          <p:nvPr/>
        </p:nvSpPr>
        <p:spPr>
          <a:xfrm>
            <a:off x="9046903" y="4375890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44.48 €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80C4D6-718F-0655-1D37-720135945F20}"/>
              </a:ext>
            </a:extLst>
          </p:cNvPr>
          <p:cNvSpPr txBox="1"/>
          <p:nvPr/>
        </p:nvSpPr>
        <p:spPr>
          <a:xfrm>
            <a:off x="10378440" y="4389120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48"/>
                </a:solidFill>
              </a:rPr>
              <a:t>43.40 € ±noise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AF003B-8B48-2855-2718-3C861B50CD13}"/>
              </a:ext>
            </a:extLst>
          </p:cNvPr>
          <p:cNvSpPr/>
          <p:nvPr/>
        </p:nvSpPr>
        <p:spPr>
          <a:xfrm>
            <a:off x="7589520" y="4773168"/>
            <a:ext cx="429768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E44CFE-FC51-C8D8-AF05-4565D705D7AC}"/>
              </a:ext>
            </a:extLst>
          </p:cNvPr>
          <p:cNvSpPr txBox="1"/>
          <p:nvPr/>
        </p:nvSpPr>
        <p:spPr>
          <a:xfrm>
            <a:off x="7635240" y="4791455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err="1">
                <a:solidFill>
                  <a:srgbClr val="595959"/>
                </a:solidFill>
              </a:rPr>
              <a:t>full</a:t>
            </a:r>
            <a:r>
              <a:rPr sz="800" b="0" i="0" err="1">
                <a:solidFill>
                  <a:srgbClr val="595959"/>
                </a:solidFill>
              </a:rPr>
              <a:t>_</a:t>
            </a:r>
            <a:r>
              <a:rPr sz="1200" b="0" i="0" err="1">
                <a:solidFill>
                  <a:srgbClr val="595959"/>
                </a:solidFill>
              </a:rPr>
              <a:t>name</a:t>
            </a:r>
            <a:endParaRPr sz="1200" b="0" i="0">
              <a:solidFill>
                <a:srgbClr val="595959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93A003-1941-AF71-64D2-DB8B8264AAD9}"/>
              </a:ext>
            </a:extLst>
          </p:cNvPr>
          <p:cNvSpPr txBox="1"/>
          <p:nvPr/>
        </p:nvSpPr>
        <p:spPr>
          <a:xfrm>
            <a:off x="9052560" y="4791455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Lotte Blaak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4FD9A0-A3C8-EF26-6313-9C8C1D26BB0A}"/>
              </a:ext>
            </a:extLst>
          </p:cNvPr>
          <p:cNvSpPr txBox="1"/>
          <p:nvPr/>
        </p:nvSpPr>
        <p:spPr>
          <a:xfrm>
            <a:off x="10378440" y="4791455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⛔ Removed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5A358A-054E-3080-6B1A-61E54C1434DA}"/>
              </a:ext>
            </a:extLst>
          </p:cNvPr>
          <p:cNvSpPr/>
          <p:nvPr/>
        </p:nvSpPr>
        <p:spPr>
          <a:xfrm>
            <a:off x="7589520" y="5175504"/>
            <a:ext cx="4297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2D8130-4EB8-D43D-F4E2-CD49C8054FD9}"/>
              </a:ext>
            </a:extLst>
          </p:cNvPr>
          <p:cNvSpPr txBox="1"/>
          <p:nvPr/>
        </p:nvSpPr>
        <p:spPr>
          <a:xfrm>
            <a:off x="7635240" y="5193792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err="1">
                <a:solidFill>
                  <a:srgbClr val="595959"/>
                </a:solidFill>
              </a:rPr>
              <a:t>street</a:t>
            </a:r>
            <a:r>
              <a:rPr sz="800" b="0" i="0" err="1">
                <a:solidFill>
                  <a:srgbClr val="595959"/>
                </a:solidFill>
              </a:rPr>
              <a:t>_</a:t>
            </a:r>
            <a:r>
              <a:rPr sz="1200" b="0" i="0" err="1">
                <a:solidFill>
                  <a:srgbClr val="595959"/>
                </a:solidFill>
              </a:rPr>
              <a:t>address</a:t>
            </a:r>
            <a:endParaRPr sz="1200" b="0" i="0">
              <a:solidFill>
                <a:srgbClr val="595959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3A4092-1773-2377-2516-17B849AA472E}"/>
              </a:ext>
            </a:extLst>
          </p:cNvPr>
          <p:cNvSpPr txBox="1"/>
          <p:nvPr/>
        </p:nvSpPr>
        <p:spPr>
          <a:xfrm>
            <a:off x="9052560" y="5193792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err="1">
                <a:solidFill>
                  <a:srgbClr val="595959"/>
                </a:solidFill>
              </a:rPr>
              <a:t>Briandreef</a:t>
            </a:r>
            <a:r>
              <a:rPr sz="1200" b="0" i="0">
                <a:solidFill>
                  <a:srgbClr val="595959"/>
                </a:solidFill>
              </a:rPr>
              <a:t> 461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A18768-7C44-AF55-47F2-D143F929129D}"/>
              </a:ext>
            </a:extLst>
          </p:cNvPr>
          <p:cNvSpPr txBox="1"/>
          <p:nvPr/>
        </p:nvSpPr>
        <p:spPr>
          <a:xfrm>
            <a:off x="10378440" y="5193792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⛔ Removed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3C44091-50B8-6E53-2F8C-C5CDE8065DB6}"/>
              </a:ext>
            </a:extLst>
          </p:cNvPr>
          <p:cNvSpPr/>
          <p:nvPr/>
        </p:nvSpPr>
        <p:spPr>
          <a:xfrm>
            <a:off x="9975" y="612648"/>
            <a:ext cx="12188952" cy="4297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1E13C4-5412-9A64-0297-A245C3EAA44A}"/>
              </a:ext>
            </a:extLst>
          </p:cNvPr>
          <p:cNvSpPr txBox="1"/>
          <p:nvPr/>
        </p:nvSpPr>
        <p:spPr>
          <a:xfrm>
            <a:off x="284295" y="59165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8 PII fields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00A344-E174-486E-8193-C182D73BE0E2}"/>
              </a:ext>
            </a:extLst>
          </p:cNvPr>
          <p:cNvSpPr txBox="1"/>
          <p:nvPr/>
        </p:nvSpPr>
        <p:spPr>
          <a:xfrm>
            <a:off x="274320" y="81631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</a:rPr>
              <a:t>fully anonymized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52BCB1-52E7-A6B4-9142-612FB1129CF6}"/>
              </a:ext>
            </a:extLst>
          </p:cNvPr>
          <p:cNvSpPr txBox="1"/>
          <p:nvPr/>
        </p:nvSpPr>
        <p:spPr>
          <a:xfrm>
            <a:off x="2541617" y="59113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 fields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7866B8-B1FD-D2F6-7CF8-9AF863500026}"/>
              </a:ext>
            </a:extLst>
          </p:cNvPr>
          <p:cNvSpPr txBox="1"/>
          <p:nvPr/>
        </p:nvSpPr>
        <p:spPr>
          <a:xfrm>
            <a:off x="2541617" y="777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</a:rPr>
              <a:t>permanently removed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E58E7C-CBBA-FF2A-1762-08DECF4CC5AC}"/>
              </a:ext>
            </a:extLst>
          </p:cNvPr>
          <p:cNvSpPr txBox="1"/>
          <p:nvPr/>
        </p:nvSpPr>
        <p:spPr>
          <a:xfrm>
            <a:off x="5577840" y="59113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269 notes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863E0E-48DB-7834-5BD0-591F1DD21280}"/>
              </a:ext>
            </a:extLst>
          </p:cNvPr>
          <p:cNvSpPr txBox="1"/>
          <p:nvPr/>
        </p:nvSpPr>
        <p:spPr>
          <a:xfrm>
            <a:off x="5577840" y="78430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</a:rPr>
              <a:t>processed by local AI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DE07ED-7577-D350-5653-591710197AD6}"/>
              </a:ext>
            </a:extLst>
          </p:cNvPr>
          <p:cNvSpPr txBox="1"/>
          <p:nvPr/>
        </p:nvSpPr>
        <p:spPr>
          <a:xfrm>
            <a:off x="8156863" y="61067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E07473-DD23-28B7-E1E5-C72C6C38C667}"/>
              </a:ext>
            </a:extLst>
          </p:cNvPr>
          <p:cNvSpPr txBox="1"/>
          <p:nvPr/>
        </p:nvSpPr>
        <p:spPr>
          <a:xfrm>
            <a:off x="8156863" y="802593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</a:rPr>
              <a:t>analytical value retained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EBA8D04-5B4B-DF10-F043-45DB130939DB}"/>
              </a:ext>
            </a:extLst>
          </p:cNvPr>
          <p:cNvSpPr txBox="1"/>
          <p:nvPr/>
        </p:nvSpPr>
        <p:spPr>
          <a:xfrm>
            <a:off x="7463744" y="5848918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</a:rPr>
              <a:t>Free-text notes (269 records) processed with Ollama llama3.2:3b running locally —
no customer data ever left the premises during AI processing.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B3904F0-E9B0-E3F4-4DF7-BACBC5A00777}"/>
              </a:ext>
            </a:extLst>
          </p:cNvPr>
          <p:cNvSpPr/>
          <p:nvPr/>
        </p:nvSpPr>
        <p:spPr>
          <a:xfrm>
            <a:off x="7463744" y="6499701"/>
            <a:ext cx="4725207" cy="3582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BA3344-5E6E-E621-4041-EA0ADE12D0AD}"/>
              </a:ext>
            </a:extLst>
          </p:cNvPr>
          <p:cNvSpPr txBox="1"/>
          <p:nvPr/>
        </p:nvSpPr>
        <p:spPr>
          <a:xfrm>
            <a:off x="10058400" y="6583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95959"/>
                </a:solidFill>
              </a:rPr>
              <a:t>Victor Toret Marin  ·  April 2026</a:t>
            </a:r>
          </a:p>
        </p:txBody>
      </p:sp>
      <p:pic>
        <p:nvPicPr>
          <p:cNvPr id="60" name="Picture 59" descr="image.png">
            <a:extLst>
              <a:ext uri="{FF2B5EF4-FFF2-40B4-BE49-F238E27FC236}">
                <a16:creationId xmlns:a16="http://schemas.microsoft.com/office/drawing/2014/main" id="{4114F455-7409-B63A-A07E-D8BCCF21B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" y="3255264"/>
            <a:ext cx="7409134" cy="360273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7305" y="1385422"/>
            <a:ext cx="10332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90%+ risk reduction across all 3 GDPR metrics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305" y="1718719"/>
            <a:ext cx="10332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Re-identification risk, data breach impact, and regulatory fines exposure — all reduced by over 90% after anonymization.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90" y="1978152"/>
            <a:ext cx="75349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Zero PII ever reaches the cloud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-36830" y="2259335"/>
            <a:ext cx="75951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~5,000 records fully anonymized on-premises. Names, emails, addresses, IDs — none leave the local environment.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-5657" y="2540906"/>
            <a:ext cx="10332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100% analytical value preserved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-36830" y="2786242"/>
            <a:ext cx="75749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</a:rPr>
              <a:t>Country, age range, segments, categories &amp; device type survive intact for full BI and ML.</a:t>
            </a:r>
            <a:r>
              <a:rPr lang="es-ES" sz="1200">
                <a:solidFill>
                  <a:srgbClr val="595959"/>
                </a:solidFill>
              </a:rPr>
              <a:t> workloads</a:t>
            </a:r>
            <a:endParaRPr sz="1200" b="0" i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815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996</Words>
  <Application>Microsoft Office PowerPoint</Application>
  <PresentationFormat>Custom</PresentationFormat>
  <Paragraphs>218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5899</cp:lastModifiedBy>
  <cp:revision>4</cp:revision>
  <dcterms:created xsi:type="dcterms:W3CDTF">2013-01-27T09:14:16Z</dcterms:created>
  <dcterms:modified xsi:type="dcterms:W3CDTF">2026-04-29T11:26:07Z</dcterms:modified>
  <cp:category/>
</cp:coreProperties>
</file>